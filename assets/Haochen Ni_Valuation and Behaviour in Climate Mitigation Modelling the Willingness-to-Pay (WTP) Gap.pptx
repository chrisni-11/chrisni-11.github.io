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2" r:id="rId3"/>
    <p:sldId id="259" r:id="rId4"/>
    <p:sldId id="275" r:id="rId5"/>
    <p:sldId id="274" r:id="rId6"/>
    <p:sldId id="262" r:id="rId7"/>
    <p:sldId id="264" r:id="rId8"/>
    <p:sldId id="269" r:id="rId9"/>
    <p:sldId id="283" r:id="rId10"/>
    <p:sldId id="268" r:id="rId11"/>
    <p:sldId id="284" r:id="rId12"/>
    <p:sldId id="270" r:id="rId13"/>
    <p:sldId id="290" r:id="rId14"/>
    <p:sldId id="271" r:id="rId15"/>
    <p:sldId id="272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39"/>
    <p:restoredTop sz="86670"/>
  </p:normalViewPr>
  <p:slideViewPr>
    <p:cSldViewPr snapToGrid="0">
      <p:cViewPr varScale="1">
        <p:scale>
          <a:sx n="137" d="100"/>
          <a:sy n="137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30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1:30:41.171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3-18T11:30:29.908"/>
    </inkml:context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21559 10740 24575,'0'0'0</inkml:trace>
  <inkml:trace contextRef="#ctx1" brushRef="#br0">21559 10740 24575 0,'0'0'0'90</inkml:trace>
  <inkml:trace contextRef="#ctx0" brushRef="#br1" timeOffset="6231">22245 10916 24575,'-44'0'0,"0"0"0,0 0 0,-1 0 0,-4 0 0,0 0 0,12 0 0,2 0 0,0 0 0,5 0 0,8 0 0,-21 0 0,36 0 0,-36 0 0,38 0 0,-38 0 0,19 0 0,-7 0 0,-4 0 0,-1 12 0,-2 2 0,-14-7 0,7 6 0,-1 0 0,11-12 0,4-2 0,3 1 0,-16 0 0,44-26 0,0 2 0,0-7 0,0-4 0,0 5 0,0-11 0,0-7 0,0 0 0,0 6 0,-1 14 0,2 0 0,17-14 0,-14 12 0,18 10 0,0 5 0,-16 11 0,38-14 0,4 18 0,-2 0-269,5 0 1,6 0 268,-6 0 0,1 0 0,-15 0 0,1 0 0,0 0 0,4 0 0,0 0 0,-4 0 0,-6 0 0,-1 0 0,8 0 0,-4 0 0,-11 0 0,20 18 0,-40 30 0,6-13 0,-3 1 0,-12 1 0,-7-2 0,-1 1 0,-4-6 0,-25-9 0,6 3 0,-2-4 0,8-16 0,-3-1 0,-6 5 0,-4 2 0,3-2 0,5-7 0,0-2 268,-14 4 1,7-6-269,20-23 0,5 19 0,17-37 0,0 40 0,0-13 0,0 17 0,0 0 0</inkml:trace>
  <inkml:trace contextRef="#ctx1" brushRef="#br1" timeOffset="5277">22245 10916 24575 0,'-44'0'0'11,"0"0"0"1,0 0 0 0,-1 0 0-1,-4 0 0 1,0 0 0 0,12 0 0 0,2 0 0-1,0 0 0 1,5 0 0 0,8 0 0 0,-21 0 0-1,36 0 0 1,-36 0 0 0,38 0 0-1,-38 0 0 1,19 0 0 0,-7 0 0 0,-4 0 0-1,-1 12 0 1,-2 2 0 0,-14-7 0 0,7 6 0-1,-1 0 0 1,11-12 0 0,4-2 0-1,3 1 0 1,-16 0 0 0,44-26 0 0,0 2 0-1,0-7 0 1,0-4 0 0,0 5 0 0,0-11 0-1,0-7 0 1,0 0 0 0,0 6 0 0,-1 14 0-1,2 0 0 1,17-14 0 0,-14 12 0-1,18 10 0 1,0 5 0 0,-16 11 0 0,38-14 0-1,4 18 0 1,-2 0-269 0,5 0 1 0,6 0 268-1,-6 0 0 1,1 0 0 0,-15 0 0-1,1 0 0 1,0 0 0 0,4 0 0 0,0 0 0-1,-4 0 0 1,-6 0 0 0,-1 0 0 0,8 0 0-1,-4 0 0 1,-11 0 0 0,20 18 0 0,-40 30 0-1,6-13 0 1,-3 1 0 0,-12 1 0-1,-7-2 0 1,-1 1 0 0,-4-6 0 0,-25-9 0-1,6 3 0 1,-2-4 0 0,8-16 0 0,-3-1 0-1,-6 5 0 1,-4 2 0 0,3-2 0-1,5-7 0 1,0-2 268 0,-14 4 1 0,7-6-269-1,20-23 0 1,5 19 0 0,17-37 0 0,0 40 0-1,0-13 0 1,0 17 0 0,0 0 0 0</inkml:trace>
  <inkml:trace contextRef="#ctx0" brushRef="#br1" timeOffset="6481">21559 10740 24575,'0'0'0</inkml:trace>
  <inkml:trace contextRef="#ctx1" brushRef="#br1" timeOffset="6456">21559 10740 24575 0,'0'0'0'115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185-05AD-2C48-AD01-ACFCEE14309C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4F387-7DD2-9F48-AB11-00F8081B35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49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834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178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621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616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023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289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403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604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881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165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695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356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B6D03-0783-1553-8139-184B4416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52898-92F4-C376-B752-1806052C7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294C5-74AC-E4ED-5586-A682D28A9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ADAD2-6856-EC04-C75B-90E448BD3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592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7483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927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387-7DD2-9F48-AB11-00F8081B354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281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D7F7-A432-BE93-1D13-B768D9D21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163BD-5DD5-53CC-72FC-BACE47919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7C350-E00C-7CC2-A974-1B5A889E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504F-0959-5DA4-E692-0297DCD89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BF24A-AF48-7FF6-46E5-32680076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144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D07F-1C90-BDC5-A87B-FDFDBEF00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AE509-DA1D-65D3-53E6-36E5EAEF1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C13C0-CA54-58FE-2600-F4E3FE09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285C6-3CEB-7D4D-B7D4-59EE76AC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BBE01-1D23-CF3A-87A2-3AF40A08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64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B16C-7966-0497-F031-F850AC04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EAFA6-538E-A84B-9786-6F2665945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0906A-4189-DD65-7D1A-9B74A15A2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D2446-AE4E-2F55-6B6B-4BE96693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CD392-E461-B535-1FDF-005564F2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46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843A-0B4F-2C25-40C4-8900FCF7B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B31A7-071A-BC71-A514-B2A2176A4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EC1D0-40E6-F8E0-1B4E-73185513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05873-6FCA-84C9-BB48-ED57F41B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C2539-E6AA-931B-18AF-7CE24A61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3F033-B471-D334-9B69-A02D9810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94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AC46-BD93-32F2-ABB2-0EAA39196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BD2D7-9273-8C1B-75DE-78820FBC6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43F05-3EAE-1495-4008-A539BB3F1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4128F-94A7-C0F9-C990-809207E09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1A469-16CF-164D-7547-FC24AD5FE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3BCBFA-8C9E-CAE9-5193-1450C9FC6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B18A28-789B-ED6E-4E70-199CD091B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8DEB52-DB5D-7919-B222-58B64BE8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52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50BD4-2778-2DF6-B053-1B7157294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B9D40-BE6C-2EE0-04D8-E671148A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D6860-AF2D-FD32-9616-FAA0C8E9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3F6DB-9D8C-7657-349B-15235F27D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7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400BB-C813-231C-D4E1-296C8F0C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C6C5D-E89C-9E9D-6F94-1955BC71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50E6A-20E7-F930-0E7B-5A709FD9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58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81A0-C29B-F174-4DC4-E6357B43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64E9-A9A4-E440-1743-0B2FA349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3EBAE-119D-08BE-0E2D-3C59FFA60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9A6AC-4AE9-95AF-785F-FEA9D5BA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6AAD5-8701-9760-5333-C27136CC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FE67E-F306-FD5F-4023-FAEB8C0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566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729C-48B4-2D1C-FC39-AD579663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C9F78-D563-F67C-DEDE-1B3BA861C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83D90-DF3B-0AF1-0FB9-B5A4132D0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524D9-0E35-1050-D1C1-7698FDCA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51348-629C-76B3-9FE7-36E81E14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EE120-EA33-D5C1-F15B-DA56F170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62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F80C-6935-9C27-D304-DE41AE98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39CD3-E3CE-20EE-85C9-14B9C6D00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9850E-3DF5-D800-2282-49B81E6D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5FACA-49D1-273A-B2E7-981CDC1C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B1C13-B740-4877-B199-2DA369AB6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14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367FC-9F9E-046A-1438-A42BF6BE9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AF1B8-3DF2-CF5D-E75B-792A8DFEF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2A17D-91DD-F66E-D2C2-A14740BD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33CF2-8B6E-7F3C-832D-B54760DD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927E3-A0D3-6B36-DA23-6F1B25CE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95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9282F-9927-2701-96F2-6DE266C57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4E8DA-B52C-A5F2-A2C9-748D5077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19CF0-595A-5FF9-D843-E79A83E1E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4F54B-7E13-E544-A9F0-2ED0A15B68B7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DAB27-2CF8-6041-DDF9-24F12E443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E42D5-D855-02ED-B272-25B71E3E9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B4E3C-2E4C-EB49-A4DA-5C332D653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93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EB94-B622-4FC6-5241-F95D08E93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75" y="1504512"/>
            <a:ext cx="11225049" cy="238760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GB" sz="4000" dirty="0">
                <a:latin typeface="+mn-lt"/>
                <a:ea typeface="+mn-ea"/>
                <a:cs typeface="+mn-cs"/>
              </a:rPr>
              <a:t>A Structural Theory of the Willingness-to-Pay Gap: Valuation and Behaviour in Climate Mitigation</a:t>
            </a:r>
            <a:br>
              <a:rPr lang="en-GB" sz="2400" dirty="0">
                <a:latin typeface="+mn-lt"/>
                <a:ea typeface="+mn-ea"/>
                <a:cs typeface="+mn-cs"/>
              </a:rPr>
            </a:br>
            <a:endParaRPr lang="en-GB" sz="24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E318D-8465-346F-C4C1-D239A3122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2112"/>
            <a:ext cx="9144000" cy="1655762"/>
          </a:xfrm>
        </p:spPr>
        <p:txBody>
          <a:bodyPr>
            <a:normAutofit/>
          </a:bodyPr>
          <a:lstStyle/>
          <a:p>
            <a:r>
              <a:rPr lang="en-GB" sz="2800" dirty="0"/>
              <a:t>Chris Ni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0816739-99B5-DF8D-792A-2C7FB82D1327}"/>
                  </a:ext>
                </a:extLst>
              </p14:cNvPr>
              <p14:cNvContentPartPr/>
              <p14:nvPr/>
            </p14:nvContentPartPr>
            <p14:xfrm>
              <a:off x="7640640" y="3767400"/>
              <a:ext cx="367920" cy="184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0816739-99B5-DF8D-792A-2C7FB82D13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31280" y="3758040"/>
                <a:ext cx="386640" cy="20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819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05"/>
    </mc:Choice>
    <mc:Fallback xmlns="">
      <p:transition spd="slow" advTm="970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98AF-D1F1-259C-68F2-798A765D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5357-0410-9AF4-B81D-AD40BFC1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I: Research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C5F10-7D63-6FE8-99E9-3BD028A45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15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33"/>
    </mc:Choice>
    <mc:Fallback xmlns="">
      <p:transition spd="slow" advTm="513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17C9-79C6-5629-AD46-01FBCCF8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Research Question: If people value climate change highly in a survey, why are they under-contributing?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9F58-38B9-37ED-929E-BA7294CD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2124203"/>
            <a:ext cx="10787744" cy="386604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400" dirty="0"/>
              <a:t>Environmental economics often compares stated WTP and actual contribution as if they were two measurements of the </a:t>
            </a:r>
            <a:r>
              <a:rPr lang="en-GB" b="1" dirty="0"/>
              <a:t>same underlying WTP</a:t>
            </a:r>
            <a:r>
              <a:rPr lang="en-GB" sz="2400" dirty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GB" sz="2400" dirty="0"/>
              <a:t>We claim that they are </a:t>
            </a:r>
            <a:r>
              <a:rPr lang="en-GB" sz="2800" b="1" dirty="0"/>
              <a:t>not necessarily the same object</a:t>
            </a:r>
            <a:endParaRPr lang="en-GB" b="1" dirty="0"/>
          </a:p>
          <a:p>
            <a:r>
              <a:rPr lang="en-GB" sz="2400" dirty="0"/>
              <a:t>We</a:t>
            </a:r>
            <a:r>
              <a:rPr lang="en-GB" dirty="0"/>
              <a:t> </a:t>
            </a:r>
            <a:r>
              <a:rPr lang="en-GB" sz="2400" dirty="0"/>
              <a:t>compare two coexisting frameworks under the same preference structure:</a:t>
            </a:r>
            <a:endParaRPr lang="en-GB" dirty="0"/>
          </a:p>
          <a:p>
            <a:pPr marL="1028700" lvl="1" indent="-571500">
              <a:buFont typeface="+mj-lt"/>
              <a:buAutoNum type="romanLcPeriod"/>
            </a:pPr>
            <a:r>
              <a:rPr lang="en-GB" dirty="0"/>
              <a:t>WTP as Compensating Variation </a:t>
            </a:r>
            <a:r>
              <a:rPr lang="en-GB" sz="2800" dirty="0"/>
              <a:t>(</a:t>
            </a:r>
            <a:r>
              <a:rPr lang="en-GB" sz="2800" b="1" dirty="0"/>
              <a:t>Valuation Model</a:t>
            </a:r>
            <a:r>
              <a:rPr lang="en-GB" sz="2800" dirty="0"/>
              <a:t>)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GB" dirty="0"/>
              <a:t>WTP as Optimisation Behaviour </a:t>
            </a:r>
            <a:r>
              <a:rPr lang="en-GB" sz="2800" dirty="0"/>
              <a:t>(</a:t>
            </a:r>
            <a:r>
              <a:rPr lang="en-GB" sz="2800" b="1" dirty="0"/>
              <a:t>Choice Model</a:t>
            </a:r>
            <a:r>
              <a:rPr lang="en-GB" sz="2800" dirty="0"/>
              <a:t>) </a:t>
            </a:r>
          </a:p>
          <a:p>
            <a:r>
              <a:rPr lang="en-GB" sz="2400" dirty="0"/>
              <a:t>We show that a </a:t>
            </a:r>
            <a:r>
              <a:rPr lang="en-GB" b="1" dirty="0"/>
              <a:t>wedge arises generically</a:t>
            </a:r>
            <a:r>
              <a:rPr lang="en-GB" sz="2400" dirty="0"/>
              <a:t>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201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66"/>
    </mc:Choice>
    <mc:Fallback xmlns="">
      <p:transition spd="slow" advTm="2576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F398-0C81-70EB-0B34-3A7E2F70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II: Model Construction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24D15-29B9-98AC-353D-FFD2C24E8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7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6"/>
    </mc:Choice>
    <mc:Fallback xmlns="">
      <p:transition spd="slow" advTm="306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D52-F914-B923-166A-2669885A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Primitives and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9D8A07-816D-B0D1-8C14-12BA17C593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2737"/>
                <a:ext cx="10515600" cy="563588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  <m:r>
                          <a:rPr lang="en-GB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 </m:t>
                        </m:r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  <m:r>
                          <a:rPr lang="en-GB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𝑊</m:t>
                        </m:r>
                        <m:r>
                          <a:rPr lang="en-GB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 </m:t>
                        </m:r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  <m:r>
                          <a:rPr lang="en-GB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 </m:t>
                        </m:r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𝑀</m:t>
                        </m:r>
                      </m:e>
                    </m:d>
                    <m:r>
                      <a:rPr lang="en-GB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GB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  <m:r>
                          <a:rPr lang="en-GB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  <m:r>
                          <a:rPr lang="en-GB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endParaRPr lang="en-GB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/>
                  <a:t>   </a:t>
                </a:r>
                <a:r>
                  <a:rPr lang="en-GB" sz="2400" dirty="0"/>
                  <a:t>where c - private consumption, W - WTP, E - environmental improvement, </a:t>
                </a:r>
              </a:p>
              <a:p>
                <a:pPr marL="0" indent="0">
                  <a:buNone/>
                </a:pPr>
                <a:r>
                  <a:rPr lang="zh-CN" altLang="en-US" sz="2400" dirty="0"/>
                  <a:t>   </a:t>
                </a:r>
                <a:r>
                  <a:rPr lang="en-GB" sz="2400" dirty="0"/>
                  <a:t>M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-</a:t>
                </a:r>
                <a:r>
                  <a:rPr lang="zh-CN" altLang="en-US" sz="2400" dirty="0"/>
                  <a:t> </a:t>
                </a:r>
                <a:r>
                  <a:rPr lang="en-GB" sz="2400" dirty="0"/>
                  <a:t>moral satisfaction.</a:t>
                </a:r>
              </a:p>
              <a:p>
                <a:pPr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B" sz="2400" b="1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A1 (Regularity)</a:t>
                </a:r>
                <a:r>
                  <a:rPr lang="en-GB" sz="24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GB" sz="2400" i="1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general utility function is additively separable and twice continuously differentiable.</a:t>
                </a:r>
                <a:r>
                  <a:rPr lang="en-GB" sz="2400" i="1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en-GB" sz="2400" i="1" kern="100" dirty="0"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B" sz="2400" b="1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A2 (Monotonicity and concavity)</a:t>
                </a:r>
                <a:r>
                  <a:rPr lang="en-GB" sz="24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GB" sz="2400" i="1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All component utility </a:t>
                </a:r>
                <a:r>
                  <a:rPr lang="en-GB" sz="24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functions</a:t>
                </a:r>
                <a:r>
                  <a:rPr lang="en-GB" sz="2400" i="1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monotonic and concave. In particular, </a:t>
                </a:r>
                <a:endParaRPr lang="en-GB" sz="2400" kern="1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′</m:t>
                      </m:r>
                      <m:d>
                        <m:d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&gt;0,  </m:t>
                      </m:r>
                      <m:sSup>
                        <m:sSup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&lt;0,</m:t>
                      </m:r>
                    </m:oMath>
                  </m:oMathPara>
                </a14:m>
                <a:endParaRPr lang="en-GB" sz="2400" kern="1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≥0,  </m:t>
                      </m:r>
                      <m:sSup>
                        <m:sSup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</m:d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≤0,</m:t>
                      </m:r>
                    </m:oMath>
                  </m:oMathPara>
                </a14:m>
                <a:endParaRPr lang="en-GB" sz="2400" kern="1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≥0,  </m:t>
                      </m:r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"(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)≤0.</m:t>
                      </m:r>
                    </m:oMath>
                  </m:oMathPara>
                </a14:m>
                <a:endParaRPr lang="en-GB" sz="2400" kern="1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9D8A07-816D-B0D1-8C14-12BA17C59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2737"/>
                <a:ext cx="10515600" cy="5635880"/>
              </a:xfrm>
              <a:blipFill>
                <a:blip r:embed="rId3"/>
                <a:stretch>
                  <a:fillRect l="-844" t="-1351" r="-8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72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75"/>
    </mc:Choice>
    <mc:Fallback xmlns="">
      <p:transition spd="slow" advTm="1207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1924-943F-54C2-FAAC-C3DD8C0F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WTP as Compensating Variation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57F5F1-9A7D-A8DD-9FC9-D0149E1727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2576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WTP is defined implicitly by: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  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GB" sz="2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en-GB" dirty="0"/>
                  <a:t> is the voluntary equilibrium WTP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Interpretations: </a:t>
                </a:r>
              </a:p>
              <a:p>
                <a:pPr lvl="1"/>
                <a:r>
                  <a:rPr lang="en-GB" sz="2800" dirty="0"/>
                  <a:t>WTP is an </a:t>
                </a:r>
                <a:r>
                  <a:rPr lang="en-GB" sz="2800" b="1" dirty="0"/>
                  <a:t>implied welfare measure</a:t>
                </a:r>
                <a:r>
                  <a:rPr lang="en-GB" sz="2800" dirty="0"/>
                  <a:t>;</a:t>
                </a:r>
                <a:r>
                  <a:rPr lang="en-GB" sz="2800" b="1" dirty="0"/>
                  <a:t> </a:t>
                </a:r>
                <a:r>
                  <a:rPr lang="en-GB" sz="2800" dirty="0"/>
                  <a:t>it is </a:t>
                </a:r>
                <a:r>
                  <a:rPr lang="en-GB" sz="2800" b="1" dirty="0"/>
                  <a:t>not chosen</a:t>
                </a:r>
              </a:p>
              <a:p>
                <a:pPr lvl="1"/>
                <a:r>
                  <a:rPr lang="en-GB" sz="2800" dirty="0"/>
                  <a:t>The </a:t>
                </a:r>
                <a:r>
                  <a:rPr lang="en-GB" sz="2800" b="1" dirty="0"/>
                  <a:t>partial equilibrium </a:t>
                </a:r>
                <a:r>
                  <a:rPr lang="en-GB" sz="2800" dirty="0"/>
                  <a:t>(use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GB" sz="2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en-GB" sz="2800" dirty="0"/>
                  <a:t>)</a:t>
                </a:r>
                <a:r>
                  <a:rPr lang="en-GB" sz="2800" b="1" dirty="0"/>
                  <a:t> </a:t>
                </a:r>
                <a:r>
                  <a:rPr lang="en-GB" sz="2800" dirty="0"/>
                  <a:t>captures the </a:t>
                </a:r>
                <a:r>
                  <a:rPr lang="en-GB" sz="2800" b="1" dirty="0"/>
                  <a:t>hypothetical environment </a:t>
                </a:r>
                <a:r>
                  <a:rPr lang="en-GB" sz="2800" dirty="0"/>
                  <a:t>in the survey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57F5F1-9A7D-A8DD-9FC9-D0149E172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2576"/>
                <a:ext cx="10515600" cy="5032375"/>
              </a:xfrm>
              <a:blipFill>
                <a:blip r:embed="rId3"/>
                <a:stretch>
                  <a:fillRect l="-1086" t="-20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CF9E73-FF86-18A8-762F-872DF835850C}"/>
                  </a:ext>
                </a:extLst>
              </p:cNvPr>
              <p:cNvSpPr txBox="1"/>
              <p:nvPr/>
            </p:nvSpPr>
            <p:spPr>
              <a:xfrm>
                <a:off x="514055" y="1936349"/>
                <a:ext cx="11163890" cy="553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{</m:t>
                          </m:r>
                          <m: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</m:t>
                          </m:r>
                          <m: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GB" sz="28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𝐶𝑉</m:t>
                              </m:r>
                            </m:sup>
                          </m:sSup>
                        </m:e>
                      </m:d>
                      <m:r>
                        <a:rPr lang="en-GB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b="0" i="1" kern="10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</m:acc>
                      <m:r>
                        <a:rPr lang="en-GB" sz="2800" b="0" i="1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GB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GB" sz="2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</m:acc>
                      <m:r>
                        <a:rPr lang="en-GB" sz="2800" b="0" i="1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)}=</m:t>
                      </m:r>
                      <m:sSub>
                        <m:sSubPr>
                          <m:ctrlP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{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</m:acc>
                      <m:r>
                        <a:rPr lang="en-GB" sz="2800" b="0" i="1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GB" sz="28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2800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</m:acc>
                      <m:r>
                        <a:rPr lang="en-GB" sz="2800" b="0" i="1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GB" sz="2800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},</m:t>
                      </m:r>
                    </m:oMath>
                  </m:oMathPara>
                </a14:m>
                <a:endParaRPr lang="en-GB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CF9E73-FF86-18A8-762F-872DF8358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55" y="1936349"/>
                <a:ext cx="11163890" cy="553485"/>
              </a:xfrm>
              <a:prstGeom prst="rect">
                <a:avLst/>
              </a:prstGeom>
              <a:blipFill>
                <a:blip r:embed="rId6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Arrow 5">
            <a:extLst>
              <a:ext uri="{FF2B5EF4-FFF2-40B4-BE49-F238E27FC236}">
                <a16:creationId xmlns:a16="http://schemas.microsoft.com/office/drawing/2014/main" id="{96117447-7B5A-860E-FBD6-BFCDF7A8DCD2}"/>
              </a:ext>
            </a:extLst>
          </p:cNvPr>
          <p:cNvSpPr/>
          <p:nvPr/>
        </p:nvSpPr>
        <p:spPr>
          <a:xfrm rot="2679770">
            <a:off x="9158633" y="5181591"/>
            <a:ext cx="582846" cy="318977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8823F5-1D27-7197-5599-1FB320623421}"/>
              </a:ext>
            </a:extLst>
          </p:cNvPr>
          <p:cNvSpPr txBox="1"/>
          <p:nvPr/>
        </p:nvSpPr>
        <p:spPr>
          <a:xfrm>
            <a:off x="9774200" y="5305424"/>
            <a:ext cx="1903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Discusses at the end</a:t>
            </a:r>
          </a:p>
        </p:txBody>
      </p:sp>
    </p:spTree>
    <p:extLst>
      <p:ext uri="{BB962C8B-B14F-4D97-AF65-F5344CB8AC3E}">
        <p14:creationId xmlns:p14="http://schemas.microsoft.com/office/powerpoint/2010/main" val="334919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68"/>
    </mc:Choice>
    <mc:Fallback xmlns="">
      <p:transition spd="slow" advTm="2206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6D507-4C94-1708-4037-29A7DC26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WTP as Optimisation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FE0274-68C6-91F8-988E-C869747BA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Now WTP is a choice variable, subject to </a:t>
                </a:r>
              </a:p>
              <a:p>
                <a:pPr marL="457200" lvl="1" indent="0" algn="just">
                  <a:buNone/>
                </a:pPr>
                <a:endParaRPr lang="en-GB" sz="2800" dirty="0"/>
              </a:p>
              <a:p>
                <a:pPr marL="457200" lvl="1" indent="0" algn="just">
                  <a:buNone/>
                </a:pPr>
                <a:endParaRPr lang="en-GB" sz="2800" dirty="0"/>
              </a:p>
              <a:p>
                <a:pPr marL="457200" lvl="1" indent="0">
                  <a:buNone/>
                </a:pPr>
                <a:endParaRPr lang="en-GB" dirty="0"/>
              </a:p>
              <a:p>
                <a:r>
                  <a:rPr lang="en-GB" dirty="0"/>
                  <a:t>Individuals </a:t>
                </a:r>
                <a:r>
                  <a:rPr lang="en-GB" b="1" dirty="0"/>
                  <a:t>choose</a:t>
                </a:r>
                <a:r>
                  <a:rPr lang="en-GB" dirty="0"/>
                  <a:t> their WTP level,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sz="2800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GB" dirty="0"/>
              </a:p>
              <a:p>
                <a:r>
                  <a:rPr lang="en-GB" dirty="0"/>
                  <a:t>WTP solves the classic problem: </a:t>
                </a:r>
                <a:r>
                  <a:rPr lang="en-GB" b="1" dirty="0"/>
                  <a:t>MB=MC</a:t>
                </a:r>
              </a:p>
              <a:p>
                <a:r>
                  <a:rPr lang="en-GB" dirty="0"/>
                  <a:t>We will assume that an interior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exists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FE0274-68C6-91F8-988E-C869747BA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56121-6D6C-E5ED-C3B1-7504EF056799}"/>
                  </a:ext>
                </a:extLst>
              </p:cNvPr>
              <p:cNvSpPr txBox="1"/>
              <p:nvPr/>
            </p:nvSpPr>
            <p:spPr>
              <a:xfrm>
                <a:off x="115613" y="2297024"/>
                <a:ext cx="11960774" cy="712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GB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2800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≥0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sz="2800" i="1" kern="1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fName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56121-6D6C-E5ED-C3B1-7504EF056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13" y="2297024"/>
                <a:ext cx="11960774" cy="712183"/>
              </a:xfrm>
              <a:prstGeom prst="rect">
                <a:avLst/>
              </a:prstGeom>
              <a:blipFill>
                <a:blip r:embed="rId6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148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198"/>
    </mc:Choice>
    <mc:Fallback xmlns="">
      <p:transition spd="slow" advTm="2019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9EF8B-1A32-78F4-5CDE-603C0EEF8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E170139-F3B4-9A71-AFBB-A1A7856F71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Part III: The Wedge </a:t>
                </a:r>
                <a14:m>
                  <m:oMath xmlns:m="http://schemas.openxmlformats.org/officeDocument/2006/math">
                    <m:r>
                      <a:rPr lang="en-GB" sz="5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∆=</m:t>
                    </m:r>
                    <m:sSup>
                      <m:sSupPr>
                        <m:ctrlPr>
                          <a:rPr lang="en-GB" sz="5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GB" sz="5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𝑊</m:t>
                        </m:r>
                      </m:e>
                      <m:sup>
                        <m:r>
                          <a:rPr lang="en-GB" sz="5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𝐶𝑉</m:t>
                        </m:r>
                      </m:sup>
                    </m:sSup>
                    <m:r>
                      <a:rPr lang="en-GB" sz="5400" b="0" i="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𝑊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∗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E170139-F3B4-9A71-AFBB-A1A7856F71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498" b="-146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202FF-8E20-D088-D6D6-627C1A755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962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70"/>
    </mc:Choice>
    <mc:Fallback xmlns="">
      <p:transition spd="slow" advTm="1187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6A7A5A-44E4-8B58-441A-A65DD5FEE4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The Wedge </a:t>
                </a:r>
                <a14:m>
                  <m:oMath xmlns:m="http://schemas.openxmlformats.org/officeDocument/2006/math">
                    <m:r>
                      <a:rPr lang="en-GB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6A7A5A-44E4-8B58-441A-A65DD5FEE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E3E12-E9D8-DC35-ABDA-9F0CDF7BD9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1375"/>
                <a:ext cx="10515600" cy="6800170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Define: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∆=</m:t>
                      </m:r>
                      <m:sSup>
                        <m:sSupPr>
                          <m:ctrlP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𝑊</m:t>
                          </m:r>
                        </m:e>
                        <m:sup>
                          <m:r>
                            <a:rPr lang="en-GB" sz="2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𝐶𝑉</m:t>
                          </m:r>
                        </m:sup>
                      </m:sSup>
                      <m:r>
                        <a:rPr lang="en-GB" sz="2800" b="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𝑊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GB" sz="2800" b="1" kern="100" dirty="0"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GB" b="1" dirty="0"/>
                  <a:t>Proposition 1 (Existence of the wedge) </a:t>
                </a:r>
                <a:r>
                  <a:rPr lang="en-GB" i="1" dirty="0"/>
                  <a:t>Under A1 and A2, and assuming an interior solution exists,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i="1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𝐶𝑉</m:t>
                        </m:r>
                      </m:sup>
                    </m:sSubSup>
                  </m:oMath>
                </a14:m>
                <a:r>
                  <a:rPr lang="en-GB" i="1" dirty="0"/>
                  <a:t> are generally distinct, so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GB" i="1" dirty="0"/>
                  <a:t> except for knife-edge conditions, when the level condition and the first-order condition coincide.</a:t>
                </a:r>
              </a:p>
              <a:p>
                <a:r>
                  <a:rPr lang="en-GB" dirty="0"/>
                  <a:t>Why?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GB" sz="2800" dirty="0"/>
                  <a:t>Compensating variation evaluates </a:t>
                </a:r>
                <a:r>
                  <a:rPr lang="en-GB" sz="2800" b="1" dirty="0"/>
                  <a:t>welfare changes</a:t>
                </a:r>
                <a:r>
                  <a:rPr lang="en-GB" sz="2800" dirty="0"/>
                  <a:t> between states, while behavioural WTP is determined by </a:t>
                </a:r>
                <a:r>
                  <a:rPr lang="en-GB" sz="2800" b="1" dirty="0"/>
                  <a:t>marginal incentives</a:t>
                </a:r>
                <a:r>
                  <a:rPr lang="en-GB" sz="2800" dirty="0"/>
                  <a:t>.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GB" sz="2800" dirty="0"/>
                  <a:t>Coincidence occurs when the compensating-variation payment satisfies the behavioural first-order condition. 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E3E12-E9D8-DC35-ABDA-9F0CDF7BD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1375"/>
                <a:ext cx="10515600" cy="6800170"/>
              </a:xfrm>
              <a:blipFill>
                <a:blip r:embed="rId4"/>
                <a:stretch>
                  <a:fillRect l="-1086" t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408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C031-1041-A3BA-30F6-E3770BC8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 and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BE5A26-891F-B246-4D31-8FD11379DB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4806" y="1690688"/>
                <a:ext cx="10862388" cy="5644741"/>
              </a:xfrm>
            </p:spPr>
            <p:txBody>
              <a:bodyPr>
                <a:normAutofit/>
              </a:bodyPr>
              <a:lstStyle/>
              <a:p>
                <a:r>
                  <a:rPr lang="en-GB" b="1" dirty="0"/>
                  <a:t>Lemma 2 (Sign of the wedge) </a:t>
                </a:r>
                <a:r>
                  <a:rPr lang="en-GB" i="1" dirty="0"/>
                  <a:t>Under A1 and A2, for any </a:t>
                </a:r>
                <a14:m>
                  <m:oMath xmlns:m="http://schemas.openxmlformats.org/officeDocument/2006/math">
                    <m:r>
                      <a:rPr lang="en-GB" b="0" i="1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𝑤</m:t>
                    </m:r>
                    <m:r>
                      <a:rPr lang="en-GB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</m:t>
                    </m:r>
                    <m:r>
                      <a:rPr lang="en-GB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i="1" dirty="0"/>
                  <a:t>,</a:t>
                </a:r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i="1" dirty="0"/>
                  <a:t>    Since we define the wedge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 </m:t>
                    </m:r>
                  </m:oMath>
                </a14:m>
                <a:r>
                  <a:rPr lang="en-GB" i="1" dirty="0"/>
                  <a:t>as </a:t>
                </a:r>
                <a14:m>
                  <m:oMath xmlns:m="http://schemas.openxmlformats.org/officeDocument/2006/math">
                    <m:r>
                      <a:rPr lang="en-GB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∆=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GB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𝑊</m:t>
                        </m:r>
                      </m:e>
                      <m:sup>
                        <m:r>
                          <a:rPr lang="en-GB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𝐶𝑉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GB" b="0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𝑠</m:t>
                        </m:r>
                      </m:e>
                    </m:d>
                    <m:r>
                      <a:rPr lang="en-GB" b="0" i="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𝑊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∗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𝑠</m:t>
                    </m:r>
                    <m:r>
                      <a:rPr lang="en-GB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en-GB" i="1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GB" i="1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Therefore,</a:t>
                </a:r>
                <a:r>
                  <a:rPr lang="en-GB" i="1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GB" b="0" kern="100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b="0" kern="100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GB" kern="100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Under Lemma 2, we</a:t>
                </a:r>
                <a:r>
                  <a:rPr lang="en-GB" b="0" kern="100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can evaluate the sign of the wedge without explicitly solving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b="0" kern="100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GB" dirty="0"/>
                  <a:t>Under the general form, the sign of the wedge is </a:t>
                </a:r>
                <a:r>
                  <a:rPr lang="en-GB" b="1" dirty="0"/>
                  <a:t>ambiguous</a:t>
                </a:r>
                <a:r>
                  <a:rPr lang="en-GB" dirty="0"/>
                  <a:t>. </a:t>
                </a:r>
                <a:endParaRPr lang="en-GB" b="0" kern="100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GB" b="0" kern="100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If marginal </a:t>
                </a:r>
                <a:r>
                  <a:rPr lang="en-GB" kern="100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utility at the stated-WTP benchmark is negative, the actual contribution lies below stated WTP.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BE5A26-891F-B246-4D31-8FD11379D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806" y="1690688"/>
                <a:ext cx="10862388" cy="5644741"/>
              </a:xfrm>
              <a:blipFill>
                <a:blip r:embed="rId3"/>
                <a:stretch>
                  <a:fillRect l="-1051" t="-17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D04962-F5E5-2946-F58B-123105C01AE2}"/>
                  </a:ext>
                </a:extLst>
              </p:cNvPr>
              <p:cNvSpPr txBox="1"/>
              <p:nvPr/>
            </p:nvSpPr>
            <p:spPr>
              <a:xfrm>
                <a:off x="2582410" y="2160423"/>
                <a:ext cx="7027180" cy="461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≶</m:t>
                      </m:r>
                      <m:sSubSup>
                        <m:sSub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  ⟺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≷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400" b="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D04962-F5E5-2946-F58B-123105C01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410" y="2160423"/>
                <a:ext cx="7027180" cy="461921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40B980-6DEA-1AA5-1FCE-91FAB7A5369E}"/>
                  </a:ext>
                </a:extLst>
              </p:cNvPr>
              <p:cNvSpPr txBox="1"/>
              <p:nvPr/>
            </p:nvSpPr>
            <p:spPr>
              <a:xfrm>
                <a:off x="3044890" y="3197558"/>
                <a:ext cx="6102220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∆ 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𝐶𝑉</m:t>
                              </m:r>
                            </m:sup>
                          </m:sSup>
                          <m:r>
                            <a:rPr lang="en-GB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(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);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≷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i="1" kern="100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40B980-6DEA-1AA5-1FCE-91FAB7A53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90" y="3197558"/>
                <a:ext cx="6102220" cy="462884"/>
              </a:xfrm>
              <a:prstGeom prst="rect">
                <a:avLst/>
              </a:prstGeom>
              <a:blipFill>
                <a:blip r:embed="rId5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29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609"/>
    </mc:Choice>
    <mc:Fallback xmlns="">
      <p:transition spd="slow" advTm="4360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86E32-1AC4-52A7-EEA4-0BA7E3A2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Real-World Implication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000F28-DEB7-FD76-54CD-807D2BCEEC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9451" y="1460500"/>
                <a:ext cx="10713098" cy="5032375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B" b="1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Remark 3 (Sign of the wedge under weak marginal incentives)</a:t>
                </a:r>
                <a:r>
                  <a:rPr lang="en-GB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Suppose at a low level of observability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→0)</m:t>
                    </m:r>
                  </m:oMath>
                </a14:m>
                <a:r>
                  <a:rPr lang="en-GB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𝐶𝑉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;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&lt;0</m:t>
                      </m:r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GB" kern="1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  Then, under Lemma 2,</a:t>
                </a: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∆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𝑊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𝐶𝑉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𝑊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&gt;0</m:t>
                      </m:r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GB" kern="1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DengXian" panose="02010600030101010101" pitchFamily="2" charset="-122"/>
                  </a:rPr>
                  <a:t>i.e. i</a:t>
                </a:r>
                <a:r>
                  <a:rPr lang="en-GB" dirty="0">
                    <a:effectLst/>
                    <a:ea typeface="DengXian" panose="02010600030101010101" pitchFamily="2" charset="-122"/>
                  </a:rPr>
                  <a:t>f observability is sufficiently low </a:t>
                </a:r>
                <a14:m>
                  <m:oMath xmlns:m="http://schemas.openxmlformats.org/officeDocument/2006/math">
                    <m:r>
                      <a:rPr lang="en-GB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→</m:t>
                    </m:r>
                  </m:oMath>
                </a14:m>
                <a:r>
                  <a:rPr lang="en-GB" dirty="0">
                    <a:effectLst/>
                    <a:ea typeface="DengXian" panose="02010600030101010101" pitchFamily="2" charset="-122"/>
                  </a:rPr>
                  <a:t> </a:t>
                </a:r>
                <a:r>
                  <a:rPr lang="en-GB" dirty="0">
                    <a:ea typeface="DengXian" panose="02010600030101010101" pitchFamily="2" charset="-122"/>
                  </a:rPr>
                  <a:t>reputational </a:t>
                </a:r>
                <a:r>
                  <a:rPr lang="en-GB" dirty="0">
                    <a:effectLst/>
                    <a:ea typeface="DengXian" panose="02010600030101010101" pitchFamily="2" charset="-122"/>
                  </a:rPr>
                  <a:t>return is weak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→</m:t>
                    </m:r>
                  </m:oMath>
                </a14:m>
                <a:r>
                  <a:rPr lang="en-GB" dirty="0">
                    <a:effectLst/>
                    <a:ea typeface="DengXian" panose="02010600030101010101" pitchFamily="2" charset="-122"/>
                  </a:rPr>
                  <a:t> marginal benefit is small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→ </m:t>
                    </m:r>
                  </m:oMath>
                </a14:m>
                <a:r>
                  <a:rPr lang="en-GB" dirty="0">
                    <a:effectLst/>
                    <a:ea typeface="DengXian" panose="02010600030101010101" pitchFamily="2" charset="-122"/>
                  </a:rPr>
                  <a:t>real contribution is less than stated. </a:t>
                </a:r>
              </a:p>
              <a:p>
                <a:r>
                  <a:rPr lang="en-GB" kern="0" dirty="0">
                    <a:ea typeface="DengXian" panose="02010600030101010101" pitchFamily="2" charset="-122"/>
                  </a:rPr>
                  <a:t>Low-observability environments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GB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→0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:r>
                  <a:rPr lang="en-GB" kern="0" dirty="0">
                    <a:ea typeface="DengXian" panose="02010600030101010101" pitchFamily="2" charset="-122"/>
                  </a:rPr>
                  <a:t>such as the anonymous donation,</a:t>
                </a:r>
                <a:r>
                  <a:rPr lang="en-GB" dirty="0"/>
                  <a:t> correspond to this case.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000F28-DEB7-FD76-54CD-807D2BCEE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9451" y="1460500"/>
                <a:ext cx="10713098" cy="5032375"/>
              </a:xfrm>
              <a:blipFill>
                <a:blip r:embed="rId3"/>
                <a:stretch>
                  <a:fillRect l="-1066" t="-756" r="-1303" b="-2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93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CC3C91-6E13-FD1F-E5C1-91C93103F775}"/>
                  </a:ext>
                </a:extLst>
              </p:cNvPr>
              <p:cNvSpPr txBox="1"/>
              <p:nvPr/>
            </p:nvSpPr>
            <p:spPr>
              <a:xfrm>
                <a:off x="497998" y="1568744"/>
                <a:ext cx="10728802" cy="2103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2800" b="1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Proposition 2 (Sensitivity condition)</a:t>
                </a:r>
                <a:r>
                  <a:rPr lang="en-GB" sz="28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Since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  <m:r>
                      <a:rPr lang="en-GB" sz="2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2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2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2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sz="2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𝐶𝑉</m:t>
                        </m:r>
                      </m:sup>
                    </m:sSubSup>
                    <m:r>
                      <a:rPr lang="en-GB" sz="2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en-GB" sz="2800" i="1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2800" i="1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2800" i="1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sz="2800" i="1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sz="28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8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GB" sz="28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we have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∆</m:t>
                          </m:r>
                        </m:num>
                        <m:den>
                          <m: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𝑑𝑠</m:t>
                          </m:r>
                        </m:den>
                      </m:f>
                      <m:r>
                        <a:rPr lang="en-GB" sz="2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&lt;0  ⟺  </m:t>
                      </m:r>
                      <m:f>
                        <m:fPr>
                          <m:ctrlP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2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GB" sz="2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𝑑𝑠</m:t>
                          </m:r>
                        </m:den>
                      </m:f>
                      <m:r>
                        <a:rPr lang="en-GB" sz="2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</m:t>
                      </m:r>
                      <m:f>
                        <m:fPr>
                          <m:ctrlP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en-GB" sz="2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sz="2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2800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𝐶𝑉</m:t>
                              </m:r>
                            </m:sup>
                          </m:sSubSup>
                        </m:num>
                        <m:den>
                          <m:r>
                            <a:rPr lang="en-GB" sz="2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𝑑𝑠</m:t>
                          </m:r>
                        </m:den>
                      </m:f>
                      <m:r>
                        <a:rPr lang="en-GB" sz="2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GB" sz="2800" kern="1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CC3C91-6E13-FD1F-E5C1-91C93103F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98" y="1568744"/>
                <a:ext cx="10728802" cy="2103974"/>
              </a:xfrm>
              <a:prstGeom prst="rect">
                <a:avLst/>
              </a:prstGeom>
              <a:blipFill>
                <a:blip r:embed="rId3"/>
                <a:stretch>
                  <a:fillRect l="-1182" t="-6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EC9E9D1-6E65-49C0-A88E-84F20D3E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98" y="419623"/>
            <a:ext cx="10728802" cy="1325563"/>
          </a:xfrm>
        </p:spPr>
        <p:txBody>
          <a:bodyPr>
            <a:normAutofit/>
          </a:bodyPr>
          <a:lstStyle/>
          <a:p>
            <a:r>
              <a:rPr lang="en-GB" dirty="0"/>
              <a:t>Observability and a Numerical Illustration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ED961064-B6F9-A4BC-5DFA-4A454E3C83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0613343"/>
                  </p:ext>
                </p:extLst>
              </p:nvPr>
            </p:nvGraphicFramePr>
            <p:xfrm>
              <a:off x="615423" y="3426727"/>
              <a:ext cx="11078579" cy="301165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45038">
                      <a:extLst>
                        <a:ext uri="{9D8B030D-6E8A-4147-A177-3AD203B41FA5}">
                          <a16:colId xmlns:a16="http://schemas.microsoft.com/office/drawing/2014/main" val="2255955967"/>
                        </a:ext>
                      </a:extLst>
                    </a:gridCol>
                    <a:gridCol w="2674000">
                      <a:extLst>
                        <a:ext uri="{9D8B030D-6E8A-4147-A177-3AD203B41FA5}">
                          <a16:colId xmlns:a16="http://schemas.microsoft.com/office/drawing/2014/main" val="3081834866"/>
                        </a:ext>
                      </a:extLst>
                    </a:gridCol>
                    <a:gridCol w="2672654">
                      <a:extLst>
                        <a:ext uri="{9D8B030D-6E8A-4147-A177-3AD203B41FA5}">
                          <a16:colId xmlns:a16="http://schemas.microsoft.com/office/drawing/2014/main" val="1752226598"/>
                        </a:ext>
                      </a:extLst>
                    </a:gridCol>
                    <a:gridCol w="4586887">
                      <a:extLst>
                        <a:ext uri="{9D8B030D-6E8A-4147-A177-3AD203B41FA5}">
                          <a16:colId xmlns:a16="http://schemas.microsoft.com/office/drawing/2014/main" val="1369298992"/>
                        </a:ext>
                      </a:extLst>
                    </a:gridCol>
                  </a:tblGrid>
                  <a:tr h="67897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GB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p>
                                    <m:r>
                                      <a:rPr lang="en-GB" sz="2800" b="1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𝑪𝑽</m:t>
                                    </m:r>
                                  </m:sup>
                                </m:sSup>
                                <m:r>
                                  <a:rPr lang="en-GB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GB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p>
                                    <m:r>
                                      <a:rPr lang="en-GB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GB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GB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Wedge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GB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800" kern="1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2800" b="1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𝑪𝑽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GB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GB" sz="2800" kern="1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GB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a14:m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61205861"/>
                      </a:ext>
                    </a:extLst>
                  </a:tr>
                  <a:tr h="4300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0.0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90.91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66.48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+24.42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0591337"/>
                      </a:ext>
                    </a:extLst>
                  </a:tr>
                  <a:tr h="4300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0.2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90.91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95.47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-4.56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86981344"/>
                      </a:ext>
                    </a:extLst>
                  </a:tr>
                  <a:tr h="4300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0.5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90.91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98.08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-7.17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98632354"/>
                      </a:ext>
                    </a:extLst>
                  </a:tr>
                  <a:tr h="4300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0.8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90.91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98.78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-7.87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9050701"/>
                      </a:ext>
                    </a:extLst>
                  </a:tr>
                  <a:tr h="4300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1.0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90.91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99.02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-8.11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6778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ED961064-B6F9-A4BC-5DFA-4A454E3C83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0613343"/>
                  </p:ext>
                </p:extLst>
              </p:nvPr>
            </p:nvGraphicFramePr>
            <p:xfrm>
              <a:off x="615423" y="3426727"/>
              <a:ext cx="11078579" cy="301165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45038">
                      <a:extLst>
                        <a:ext uri="{9D8B030D-6E8A-4147-A177-3AD203B41FA5}">
                          <a16:colId xmlns:a16="http://schemas.microsoft.com/office/drawing/2014/main" val="2255955967"/>
                        </a:ext>
                      </a:extLst>
                    </a:gridCol>
                    <a:gridCol w="2674000">
                      <a:extLst>
                        <a:ext uri="{9D8B030D-6E8A-4147-A177-3AD203B41FA5}">
                          <a16:colId xmlns:a16="http://schemas.microsoft.com/office/drawing/2014/main" val="3081834866"/>
                        </a:ext>
                      </a:extLst>
                    </a:gridCol>
                    <a:gridCol w="2672654">
                      <a:extLst>
                        <a:ext uri="{9D8B030D-6E8A-4147-A177-3AD203B41FA5}">
                          <a16:colId xmlns:a16="http://schemas.microsoft.com/office/drawing/2014/main" val="1752226598"/>
                        </a:ext>
                      </a:extLst>
                    </a:gridCol>
                    <a:gridCol w="4586887">
                      <a:extLst>
                        <a:ext uri="{9D8B030D-6E8A-4147-A177-3AD203B41FA5}">
                          <a16:colId xmlns:a16="http://schemas.microsoft.com/office/drawing/2014/main" val="1369298992"/>
                        </a:ext>
                      </a:extLst>
                    </a:gridCol>
                  </a:tblGrid>
                  <a:tr h="678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111" t="-7407" r="-873333" b="-374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3128" t="-7407" r="-272512" b="-374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43128" t="-7407" r="-172512" b="-374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42105" t="-7407" r="-831" b="-374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205861"/>
                      </a:ext>
                    </a:extLst>
                  </a:tr>
                  <a:tr h="4665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0.0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90.91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66.48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+24.42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0591337"/>
                      </a:ext>
                    </a:extLst>
                  </a:tr>
                  <a:tr h="4665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0.2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90.91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95.47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-4.56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86981344"/>
                      </a:ext>
                    </a:extLst>
                  </a:tr>
                  <a:tr h="4665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0.5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90.91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98.08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-7.17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98632354"/>
                      </a:ext>
                    </a:extLst>
                  </a:tr>
                  <a:tr h="4665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0.8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90.91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98.78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-7.87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9050701"/>
                      </a:ext>
                    </a:extLst>
                  </a:tr>
                  <a:tr h="4665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1.0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90.91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>
                              <a:effectLst/>
                            </a:rPr>
                            <a:t>99.02</a:t>
                          </a:r>
                          <a:endParaRPr lang="en-GB" sz="2800" kern="10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2800" kern="100" dirty="0">
                              <a:effectLst/>
                            </a:rPr>
                            <a:t>-8.11</a:t>
                          </a:r>
                          <a:endParaRPr lang="en-GB" sz="2800" kern="100" dirty="0">
                            <a:effectLst/>
                            <a:latin typeface="Aptos" panose="020B000402020202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6778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Rectangle 1">
            <a:extLst>
              <a:ext uri="{FF2B5EF4-FFF2-40B4-BE49-F238E27FC236}">
                <a16:creationId xmlns:a16="http://schemas.microsoft.com/office/drawing/2014/main" id="{66B0FAB2-81F9-85FC-CDAF-09374F11E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784" y="6438377"/>
            <a:ext cx="467523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1: The Parametric Example Results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02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98"/>
    </mc:Choice>
    <mc:Fallback xmlns="">
      <p:transition spd="slow" advTm="1929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824CE-78A3-F234-7D66-39655BCE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A04F-07A8-A443-B0CC-6FA99803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IV: Summary &amp; 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6A470-922E-AB46-EC76-90CD5A032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062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70"/>
    </mc:Choice>
    <mc:Fallback xmlns="">
      <p:transition spd="slow" advTm="1187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A950-2AF5-8848-4DB9-7EE6B24F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&amp; Implication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7838C-17BC-EF8D-7313-6854B99DA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444605"/>
          </a:xfrm>
        </p:spPr>
        <p:txBody>
          <a:bodyPr>
            <a:normAutofit/>
          </a:bodyPr>
          <a:lstStyle/>
          <a:p>
            <a:r>
              <a:rPr lang="en-GB" dirty="0"/>
              <a:t>WTP is not one concept, but</a:t>
            </a:r>
          </a:p>
          <a:p>
            <a:pPr lvl="1"/>
            <a:r>
              <a:rPr lang="en-GB" sz="2800" dirty="0"/>
              <a:t>Under CV, it’s the </a:t>
            </a:r>
            <a:r>
              <a:rPr lang="en-GB" sz="2800" b="1" dirty="0"/>
              <a:t>welfare value </a:t>
            </a:r>
            <a:r>
              <a:rPr lang="en-GB" sz="2800" dirty="0"/>
              <a:t>from changing states.</a:t>
            </a:r>
          </a:p>
          <a:p>
            <a:pPr lvl="1"/>
            <a:r>
              <a:rPr lang="en-GB" sz="2800" dirty="0"/>
              <a:t>Under optimisation, it’s the behavioural contribution chosen under</a:t>
            </a:r>
            <a:r>
              <a:rPr lang="en-GB" sz="2800" b="1" dirty="0"/>
              <a:t> marginal incentives</a:t>
            </a:r>
            <a:r>
              <a:rPr lang="en-GB" sz="2800" dirty="0"/>
              <a:t>.</a:t>
            </a:r>
          </a:p>
          <a:p>
            <a:pPr lvl="2">
              <a:buFont typeface="Wingdings" pitchFamily="2" charset="2"/>
              <a:buChar char="Ø"/>
            </a:pPr>
            <a:r>
              <a:rPr lang="en-GB" sz="2800" dirty="0"/>
              <a:t>They are conceptually distinct objects.</a:t>
            </a:r>
          </a:p>
          <a:p>
            <a:r>
              <a:rPr lang="en-GB" dirty="0"/>
              <a:t>Policies that enhance observability—such as public recognition or visible commitments—can potentially reduce the gap between stated WTP and actual behaviour.</a:t>
            </a:r>
          </a:p>
          <a:p>
            <a:pPr>
              <a:buFont typeface="Wingdings" pitchFamily="2" charset="2"/>
              <a:buChar char="v"/>
            </a:pPr>
            <a:r>
              <a:rPr lang="en-GB" dirty="0"/>
              <a:t>Observability is one mechanism within our model construction, not the only factor that could shift the wedge. </a:t>
            </a:r>
          </a:p>
          <a:p>
            <a:pPr>
              <a:buFont typeface="Wingdings" pitchFamily="2" charset="2"/>
              <a:buChar char="v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032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63"/>
    </mc:Choice>
    <mc:Fallback xmlns="">
      <p:transition spd="slow" advTm="2996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77CA4-39E4-C9D5-811F-AE087AFD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Literature, </a:t>
            </a:r>
            <a:r>
              <a:rPr lang="en-GB" dirty="0"/>
              <a:t>Extensions &amp;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BFC60-4E69-13E5-70EC-EA04F9D9B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904" y="1511574"/>
            <a:ext cx="11534192" cy="5766304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CV-WTP is a welfare-level valuation object (Hicks, 1939), and stated-preference design has been used to recover this welfare (Carson and Groves, 2007; etc.).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GB" b="1" dirty="0"/>
              <a:t>Survey answers should be expected to differ from behaviour. </a:t>
            </a:r>
          </a:p>
          <a:p>
            <a:pPr lvl="1" algn="just">
              <a:buFont typeface="Wingdings" pitchFamily="2" charset="2"/>
              <a:buChar char="Ø"/>
            </a:pPr>
            <a:endParaRPr lang="en-GB" b="1" dirty="0"/>
          </a:p>
          <a:p>
            <a:pPr algn="just"/>
            <a:r>
              <a:rPr lang="en-GB" sz="2400" dirty="0"/>
              <a:t>Dynamic settings may depend on perceived equilibrium</a:t>
            </a:r>
            <a:r>
              <a:rPr lang="en-GB" sz="2400" b="1" dirty="0"/>
              <a:t> (</a:t>
            </a:r>
            <a:r>
              <a:rPr lang="en-GB" sz="2400" dirty="0"/>
              <a:t>Zhao and Kling, 2004), motivating the extension of </a:t>
            </a:r>
            <a:r>
              <a:rPr lang="en-GB" sz="2400" b="1" dirty="0"/>
              <a:t>dynamic learning/equilibrium</a:t>
            </a:r>
            <a:r>
              <a:rPr lang="en-GB" sz="2400" dirty="0"/>
              <a:t>. 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This paper can be extended to provide a</a:t>
            </a:r>
            <a:r>
              <a:rPr lang="en-GB" sz="2400" b="1" dirty="0"/>
              <a:t> theoretical foundation for cheap-talk design </a:t>
            </a:r>
            <a:r>
              <a:rPr lang="en-GB" sz="2400" dirty="0"/>
              <a:t>in contingent valuation.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GB" dirty="0"/>
              <a:t>Standard cheap-talk is usually viewed as </a:t>
            </a:r>
            <a:r>
              <a:rPr lang="en-GB" b="1" dirty="0"/>
              <a:t>reducing hypothetical bias</a:t>
            </a:r>
            <a:r>
              <a:rPr lang="en-GB" dirty="0"/>
              <a:t> (Cummings and Taylor, 1999).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GB" dirty="0"/>
              <a:t>My interpretation: cheap talk may </a:t>
            </a:r>
            <a:r>
              <a:rPr lang="en-GB" b="1" dirty="0"/>
              <a:t>alter the relationship </a:t>
            </a:r>
            <a:r>
              <a:rPr lang="en-GB" dirty="0"/>
              <a:t>between stated valuation and behavioural incentives. </a:t>
            </a:r>
          </a:p>
        </p:txBody>
      </p:sp>
    </p:spTree>
    <p:extLst>
      <p:ext uri="{BB962C8B-B14F-4D97-AF65-F5344CB8AC3E}">
        <p14:creationId xmlns:p14="http://schemas.microsoft.com/office/powerpoint/2010/main" val="3949027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809"/>
    </mc:Choice>
    <mc:Fallback xmlns="">
      <p:transition spd="slow" advTm="3080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E663-CBA6-DCE8-FB82-6006BB21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kern="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More broadly…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2853E-63CA-8550-0323-C9C8A7D2E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475" y="1690688"/>
            <a:ext cx="10881049" cy="5225586"/>
          </a:xfrm>
        </p:spPr>
        <p:txBody>
          <a:bodyPr>
            <a:normAutofit/>
          </a:bodyPr>
          <a:lstStyle/>
          <a:p>
            <a:r>
              <a:rPr lang="en-GB" sz="2800" kern="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paper reflects a wider theoretical interest:</a:t>
            </a:r>
          </a:p>
          <a:p>
            <a:pPr lvl="1">
              <a:buFont typeface="Wingdings" pitchFamily="2" charset="2"/>
              <a:buChar char="Ø"/>
            </a:pPr>
            <a:r>
              <a:rPr lang="en-GB" sz="2800" kern="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Behavioural tools (such as cheap talk) are often treated as practical fixes</a:t>
            </a:r>
          </a:p>
          <a:p>
            <a:pPr lvl="1">
              <a:buFont typeface="Wingdings" pitchFamily="2" charset="2"/>
              <a:buChar char="Ø"/>
            </a:pPr>
            <a:r>
              <a:rPr lang="en-GB" sz="2800" kern="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Yet some remain theoretically under-modelled. </a:t>
            </a:r>
          </a:p>
          <a:p>
            <a:r>
              <a:rPr lang="en-GB" sz="2800" kern="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This paper </a:t>
            </a:r>
            <a:r>
              <a:rPr lang="en-GB" kern="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starts from a behavioural puzzle and asks what economic object was</a:t>
            </a:r>
            <a:r>
              <a:rPr lang="en-GB" sz="2800" kern="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being changed, </a:t>
            </a:r>
            <a:r>
              <a:rPr lang="en-GB" kern="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rather than following the </a:t>
            </a:r>
            <a:r>
              <a:rPr lang="en-GB" i="1" kern="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‘path of least theory’</a:t>
            </a:r>
            <a:r>
              <a:rPr lang="en-GB" kern="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(Spiegler, 2024).</a:t>
            </a:r>
          </a:p>
          <a:p>
            <a:r>
              <a:rPr lang="en-GB" sz="2800" kern="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Theory asks: what object changes, through which incentive channel, and why does behaviour change? </a:t>
            </a:r>
          </a:p>
          <a:p>
            <a:pPr lvl="1">
              <a:buFont typeface="Wingdings" pitchFamily="2" charset="2"/>
              <a:buChar char="Ø"/>
            </a:pPr>
            <a:r>
              <a:rPr lang="en-GB" sz="2800" kern="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Economics is not only about measuring effects but also about explaining mechanisms. </a:t>
            </a:r>
            <a:endParaRPr lang="en-GB" sz="2800" kern="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66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23484</TotalTime>
  <Words>1016</Words>
  <Application>Microsoft Macintosh PowerPoint</Application>
  <PresentationFormat>Widescreen</PresentationFormat>
  <Paragraphs>133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DengXian</vt:lpstr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A Structural Theory of the Willingness-to-Pay Gap: Valuation and Behaviour in Climate Mitigation </vt:lpstr>
      <vt:lpstr>Part I: Research Question</vt:lpstr>
      <vt:lpstr>Research Question: If people value climate change highly in a survey, why are they under-contributing?</vt:lpstr>
      <vt:lpstr>Part II: Model Construction</vt:lpstr>
      <vt:lpstr>Primitives and Assumptions</vt:lpstr>
      <vt:lpstr>1. WTP as Compensating Variation</vt:lpstr>
      <vt:lpstr>2. WTP as Optimisation</vt:lpstr>
      <vt:lpstr>Part III: The Wedge ∆=W^CV-W^∗</vt:lpstr>
      <vt:lpstr>The Wedge ∆</vt:lpstr>
      <vt:lpstr>Sign and Mechanism</vt:lpstr>
      <vt:lpstr>Real-World Implication</vt:lpstr>
      <vt:lpstr>Observability and a Numerical Illustration</vt:lpstr>
      <vt:lpstr>Part IV: Summary &amp; Discussion</vt:lpstr>
      <vt:lpstr>Summary &amp; Implication</vt:lpstr>
      <vt:lpstr>Literature, Extensions &amp; Discussions</vt:lpstr>
      <vt:lpstr>More broadly…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Ni, Chris</dc:creator>
  <cp:lastModifiedBy>Ni, Chris</cp:lastModifiedBy>
  <cp:revision>23</cp:revision>
  <dcterms:created xsi:type="dcterms:W3CDTF">2026-02-18T15:56:22Z</dcterms:created>
  <dcterms:modified xsi:type="dcterms:W3CDTF">2026-05-30T13:06:42Z</dcterms:modified>
</cp:coreProperties>
</file>